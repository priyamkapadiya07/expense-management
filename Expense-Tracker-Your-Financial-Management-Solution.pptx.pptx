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Canva Sans" panose="020B0604020202020204" charset="0"/>
      <p:regular r:id="rId11"/>
    </p:embeddedFont>
    <p:embeddedFont>
      <p:font typeface="Libre Baskerville" panose="02000000000000000000" pitchFamily="2" charset="0"/>
      <p:regular r:id="rId12"/>
    </p:embeddedFont>
    <p:embeddedFont>
      <p:font typeface="Open Sans 1" panose="020B0604020202020204" charset="0"/>
      <p:regular r:id="rId13"/>
    </p:embeddedFont>
    <p:embeddedFont>
      <p:font typeface="Open Sans 2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9" d="100"/>
          <a:sy n="49" d="100"/>
        </p:scale>
        <p:origin x="1042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28.02.2025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jpe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11430000" y="0"/>
            <a:ext cx="6858000" cy="10287000"/>
          </a:xfrm>
          <a:custGeom>
            <a:avLst/>
            <a:gdLst/>
            <a:ahLst/>
            <a:cxnLst/>
            <a:rect l="l" t="t" r="r" b="b"/>
            <a:pathLst>
              <a:path w="6858000" h="10287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700" y="3814539"/>
            <a:ext cx="9445526" cy="2657921"/>
            <a:chOff x="0" y="0"/>
            <a:chExt cx="12594035" cy="354389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94035" cy="3543895"/>
            </a:xfrm>
            <a:custGeom>
              <a:avLst/>
              <a:gdLst/>
              <a:ahLst/>
              <a:cxnLst/>
              <a:rect l="l" t="t" r="r" b="b"/>
              <a:pathLst>
                <a:path w="12594035" h="3543895">
                  <a:moveTo>
                    <a:pt x="0" y="0"/>
                  </a:moveTo>
                  <a:lnTo>
                    <a:pt x="12594035" y="0"/>
                  </a:lnTo>
                  <a:lnTo>
                    <a:pt x="12594035" y="3543895"/>
                  </a:lnTo>
                  <a:lnTo>
                    <a:pt x="0" y="354389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12594035" cy="357247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6937"/>
                </a:lnSpc>
              </a:pPr>
              <a:r>
                <a:rPr lang="en-US" sz="5562">
                  <a:solidFill>
                    <a:srgbClr val="403CCF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Expense Tracker: Your Financial Management Solution</a:t>
              </a:r>
            </a:p>
          </p:txBody>
        </p:sp>
      </p:grpSp>
      <p:sp>
        <p:nvSpPr>
          <p:cNvPr id="6" name="Freeform 6"/>
          <p:cNvSpPr/>
          <p:nvPr/>
        </p:nvSpPr>
        <p:spPr>
          <a:xfrm>
            <a:off x="509409" y="514873"/>
            <a:ext cx="2693546" cy="683864"/>
          </a:xfrm>
          <a:custGeom>
            <a:avLst/>
            <a:gdLst/>
            <a:ahLst/>
            <a:cxnLst/>
            <a:rect l="l" t="t" r="r" b="b"/>
            <a:pathLst>
              <a:path w="2693546" h="683864">
                <a:moveTo>
                  <a:pt x="0" y="0"/>
                </a:moveTo>
                <a:lnTo>
                  <a:pt x="2693546" y="0"/>
                </a:lnTo>
                <a:lnTo>
                  <a:pt x="2693546" y="683864"/>
                </a:lnTo>
                <a:lnTo>
                  <a:pt x="0" y="6838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599881" y="1028700"/>
            <a:ext cx="7088237" cy="885974"/>
            <a:chOff x="0" y="0"/>
            <a:chExt cx="9450983" cy="118129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450984" cy="1181298"/>
            </a:xfrm>
            <a:custGeom>
              <a:avLst/>
              <a:gdLst/>
              <a:ahLst/>
              <a:cxnLst/>
              <a:rect l="l" t="t" r="r" b="b"/>
              <a:pathLst>
                <a:path w="9450984" h="1181298">
                  <a:moveTo>
                    <a:pt x="0" y="0"/>
                  </a:moveTo>
                  <a:lnTo>
                    <a:pt x="9450984" y="0"/>
                  </a:lnTo>
                  <a:lnTo>
                    <a:pt x="9450984" y="1181298"/>
                  </a:lnTo>
                  <a:lnTo>
                    <a:pt x="0" y="11812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9450983" cy="120987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6937"/>
                </a:lnSpc>
              </a:pPr>
              <a:r>
                <a:rPr lang="en-US" sz="5562">
                  <a:solidFill>
                    <a:srgbClr val="403CCF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Meet Our Team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3C67BF">
                    <a:alpha val="23000"/>
                  </a:srgbClr>
                </a:gs>
                <a:gs pos="50000">
                  <a:srgbClr val="6B4CAF">
                    <a:alpha val="13225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6280356" y="4597711"/>
            <a:ext cx="4639662" cy="17696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04"/>
              </a:lnSpc>
            </a:pPr>
            <a:r>
              <a:rPr lang="en-US" sz="2003" dirty="0">
                <a:solidFill>
                  <a:srgbClr val="0075B2"/>
                </a:solidFill>
                <a:latin typeface="Canva Sans"/>
                <a:ea typeface="Canva Sans"/>
                <a:cs typeface="Canva Sans"/>
                <a:sym typeface="Canva Sans"/>
              </a:rPr>
              <a:t>NAME</a:t>
            </a:r>
            <a:r>
              <a:rPr lang="en-US" sz="2003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: KAPADIYA PRIYAM M.</a:t>
            </a:r>
          </a:p>
          <a:p>
            <a:pPr algn="l">
              <a:lnSpc>
                <a:spcPts val="2804"/>
              </a:lnSpc>
            </a:pPr>
            <a:r>
              <a:rPr lang="en-US" sz="2003" dirty="0">
                <a:solidFill>
                  <a:srgbClr val="0075B2"/>
                </a:solidFill>
                <a:latin typeface="Canva Sans"/>
                <a:ea typeface="Canva Sans"/>
                <a:cs typeface="Canva Sans"/>
                <a:sym typeface="Canva Sans"/>
              </a:rPr>
              <a:t>ROLL NO</a:t>
            </a:r>
            <a:r>
              <a:rPr lang="en-US" sz="2003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: 126</a:t>
            </a:r>
          </a:p>
          <a:p>
            <a:pPr algn="l">
              <a:lnSpc>
                <a:spcPts val="2804"/>
              </a:lnSpc>
            </a:pPr>
            <a:r>
              <a:rPr lang="en-US" sz="2003" dirty="0">
                <a:solidFill>
                  <a:srgbClr val="0075B2"/>
                </a:solidFill>
                <a:latin typeface="Canva Sans"/>
                <a:ea typeface="Canva Sans"/>
                <a:cs typeface="Canva Sans"/>
                <a:sym typeface="Canva Sans"/>
              </a:rPr>
              <a:t>ENROLLMENT NO</a:t>
            </a:r>
            <a:r>
              <a:rPr lang="en-US" sz="2003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: 23002170110064</a:t>
            </a:r>
          </a:p>
          <a:p>
            <a:pPr algn="l">
              <a:lnSpc>
                <a:spcPts val="2804"/>
              </a:lnSpc>
            </a:pPr>
            <a:r>
              <a:rPr lang="en-US" sz="2003" dirty="0">
                <a:solidFill>
                  <a:srgbClr val="0075B2"/>
                </a:solidFill>
                <a:latin typeface="Canva Sans"/>
                <a:ea typeface="Canva Sans"/>
                <a:cs typeface="Canva Sans"/>
                <a:sym typeface="Canva Sans"/>
              </a:rPr>
              <a:t>BATCH</a:t>
            </a:r>
            <a:r>
              <a:rPr lang="en-US" sz="2003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: A-4</a:t>
            </a:r>
          </a:p>
          <a:p>
            <a:pPr algn="l">
              <a:lnSpc>
                <a:spcPts val="2804"/>
              </a:lnSpc>
            </a:pPr>
            <a:r>
              <a:rPr lang="en-US" sz="2003" dirty="0">
                <a:solidFill>
                  <a:srgbClr val="0075B2"/>
                </a:solidFill>
                <a:latin typeface="Canva Sans"/>
                <a:ea typeface="Canva Sans"/>
                <a:cs typeface="Canva Sans"/>
                <a:sym typeface="Canva Sans"/>
              </a:rPr>
              <a:t>BRANCH</a:t>
            </a:r>
            <a:r>
              <a:rPr lang="en-US" sz="2003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: CE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117345" y="6480013"/>
            <a:ext cx="4639662" cy="17696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4"/>
              </a:lnSpc>
            </a:pPr>
            <a:r>
              <a:rPr lang="en-US" sz="2003">
                <a:solidFill>
                  <a:srgbClr val="0075B2"/>
                </a:solidFill>
                <a:latin typeface="Canva Sans"/>
                <a:ea typeface="Canva Sans"/>
                <a:cs typeface="Canva Sans"/>
                <a:sym typeface="Canva Sans"/>
              </a:rPr>
              <a:t>NAME </a:t>
            </a:r>
            <a:r>
              <a:rPr lang="en-US" sz="200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MISTRY JAY RAMESHBHAI.</a:t>
            </a:r>
          </a:p>
          <a:p>
            <a:pPr algn="l">
              <a:lnSpc>
                <a:spcPts val="2804"/>
              </a:lnSpc>
            </a:pPr>
            <a:r>
              <a:rPr lang="en-US" sz="2003">
                <a:solidFill>
                  <a:srgbClr val="0075B2"/>
                </a:solidFill>
                <a:latin typeface="Canva Sans"/>
                <a:ea typeface="Canva Sans"/>
                <a:cs typeface="Canva Sans"/>
                <a:sym typeface="Canva Sans"/>
              </a:rPr>
              <a:t>ROLL NO</a:t>
            </a:r>
            <a:r>
              <a:rPr lang="en-US" sz="200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: 133</a:t>
            </a:r>
          </a:p>
          <a:p>
            <a:pPr algn="l">
              <a:lnSpc>
                <a:spcPts val="2804"/>
              </a:lnSpc>
            </a:pPr>
            <a:r>
              <a:rPr lang="en-US" sz="2003">
                <a:solidFill>
                  <a:srgbClr val="0075B2"/>
                </a:solidFill>
                <a:latin typeface="Canva Sans"/>
                <a:ea typeface="Canva Sans"/>
                <a:cs typeface="Canva Sans"/>
                <a:sym typeface="Canva Sans"/>
              </a:rPr>
              <a:t>ENROLLMENT NO </a:t>
            </a:r>
            <a:r>
              <a:rPr lang="en-US" sz="200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23002170110092</a:t>
            </a:r>
          </a:p>
          <a:p>
            <a:pPr algn="l">
              <a:lnSpc>
                <a:spcPts val="2804"/>
              </a:lnSpc>
            </a:pPr>
            <a:r>
              <a:rPr lang="en-US" sz="2003">
                <a:solidFill>
                  <a:srgbClr val="0075B2"/>
                </a:solidFill>
                <a:latin typeface="Canva Sans"/>
                <a:ea typeface="Canva Sans"/>
                <a:cs typeface="Canva Sans"/>
                <a:sym typeface="Canva Sans"/>
              </a:rPr>
              <a:t>BATCH </a:t>
            </a:r>
            <a:r>
              <a:rPr lang="en-US" sz="200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A-4</a:t>
            </a:r>
          </a:p>
          <a:p>
            <a:pPr algn="l">
              <a:lnSpc>
                <a:spcPts val="2804"/>
              </a:lnSpc>
            </a:pPr>
            <a:r>
              <a:rPr lang="en-US" sz="2003">
                <a:solidFill>
                  <a:srgbClr val="0075B2"/>
                </a:solidFill>
                <a:latin typeface="Canva Sans"/>
                <a:ea typeface="Canva Sans"/>
                <a:cs typeface="Canva Sans"/>
                <a:sym typeface="Canva Sans"/>
              </a:rPr>
              <a:t>BRANCH</a:t>
            </a:r>
            <a:r>
              <a:rPr lang="en-US" sz="200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: CE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453773" y="2875691"/>
            <a:ext cx="5136950" cy="17696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4"/>
              </a:lnSpc>
            </a:pPr>
            <a:r>
              <a:rPr lang="en-US" sz="2003">
                <a:solidFill>
                  <a:srgbClr val="0075B2"/>
                </a:solidFill>
                <a:latin typeface="Canva Sans"/>
                <a:ea typeface="Canva Sans"/>
                <a:cs typeface="Canva Sans"/>
                <a:sym typeface="Canva Sans"/>
              </a:rPr>
              <a:t>NAME</a:t>
            </a:r>
            <a:r>
              <a:rPr lang="en-US" sz="200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: SHARMA SHWETA VIJAYKUMAR.</a:t>
            </a:r>
          </a:p>
          <a:p>
            <a:pPr algn="l">
              <a:lnSpc>
                <a:spcPts val="2804"/>
              </a:lnSpc>
            </a:pPr>
            <a:r>
              <a:rPr lang="en-US" sz="2003">
                <a:solidFill>
                  <a:srgbClr val="0075B2"/>
                </a:solidFill>
                <a:latin typeface="Canva Sans"/>
                <a:ea typeface="Canva Sans"/>
                <a:cs typeface="Canva Sans"/>
                <a:sym typeface="Canva Sans"/>
              </a:rPr>
              <a:t>ROLL NO</a:t>
            </a:r>
            <a:r>
              <a:rPr lang="en-US" sz="200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: 140</a:t>
            </a:r>
          </a:p>
          <a:p>
            <a:pPr algn="l">
              <a:lnSpc>
                <a:spcPts val="2804"/>
              </a:lnSpc>
            </a:pPr>
            <a:r>
              <a:rPr lang="en-US" sz="2003">
                <a:solidFill>
                  <a:srgbClr val="0075B2"/>
                </a:solidFill>
                <a:latin typeface="Canva Sans"/>
                <a:ea typeface="Canva Sans"/>
                <a:cs typeface="Canva Sans"/>
                <a:sym typeface="Canva Sans"/>
              </a:rPr>
              <a:t>ENROLLMENT NO</a:t>
            </a:r>
            <a:r>
              <a:rPr lang="en-US" sz="200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: 23002170110175</a:t>
            </a:r>
          </a:p>
          <a:p>
            <a:pPr algn="l">
              <a:lnSpc>
                <a:spcPts val="2804"/>
              </a:lnSpc>
            </a:pPr>
            <a:r>
              <a:rPr lang="en-US" sz="2003">
                <a:solidFill>
                  <a:srgbClr val="0075B2"/>
                </a:solidFill>
                <a:latin typeface="Canva Sans"/>
                <a:ea typeface="Canva Sans"/>
                <a:cs typeface="Canva Sans"/>
                <a:sym typeface="Canva Sans"/>
              </a:rPr>
              <a:t>BATCH</a:t>
            </a:r>
            <a:r>
              <a:rPr lang="en-US" sz="200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: A-4</a:t>
            </a:r>
          </a:p>
          <a:p>
            <a:pPr algn="l">
              <a:lnSpc>
                <a:spcPts val="2804"/>
              </a:lnSpc>
            </a:pPr>
            <a:r>
              <a:rPr lang="en-US" sz="2003">
                <a:solidFill>
                  <a:srgbClr val="0075B2"/>
                </a:solidFill>
                <a:latin typeface="Canva Sans"/>
                <a:ea typeface="Canva Sans"/>
                <a:cs typeface="Canva Sans"/>
                <a:sym typeface="Canva Sans"/>
              </a:rPr>
              <a:t>BRANCH</a:t>
            </a:r>
            <a:r>
              <a:rPr lang="en-US" sz="200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: CE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453773" y="6480013"/>
            <a:ext cx="5716883" cy="17696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4"/>
              </a:lnSpc>
            </a:pPr>
            <a:r>
              <a:rPr lang="en-US" sz="2003">
                <a:solidFill>
                  <a:srgbClr val="0075B2"/>
                </a:solidFill>
                <a:latin typeface="Canva Sans"/>
                <a:ea typeface="Canva Sans"/>
                <a:cs typeface="Canva Sans"/>
                <a:sym typeface="Canva Sans"/>
              </a:rPr>
              <a:t>NAME</a:t>
            </a:r>
            <a:r>
              <a:rPr lang="en-US" sz="200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:BALESANA HASSANBHAI YUNUSBHAI.</a:t>
            </a:r>
          </a:p>
          <a:p>
            <a:pPr algn="l">
              <a:lnSpc>
                <a:spcPts val="2804"/>
              </a:lnSpc>
            </a:pPr>
            <a:r>
              <a:rPr lang="en-US" sz="2003">
                <a:solidFill>
                  <a:srgbClr val="0075B2"/>
                </a:solidFill>
                <a:latin typeface="Canva Sans"/>
                <a:ea typeface="Canva Sans"/>
                <a:cs typeface="Canva Sans"/>
                <a:sym typeface="Canva Sans"/>
              </a:rPr>
              <a:t>ROLL NO</a:t>
            </a:r>
            <a:r>
              <a:rPr lang="en-US" sz="200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: 122</a:t>
            </a:r>
          </a:p>
          <a:p>
            <a:pPr algn="l">
              <a:lnSpc>
                <a:spcPts val="2804"/>
              </a:lnSpc>
            </a:pPr>
            <a:r>
              <a:rPr lang="en-US" sz="2003">
                <a:solidFill>
                  <a:srgbClr val="0075B2"/>
                </a:solidFill>
                <a:latin typeface="Canva Sans"/>
                <a:ea typeface="Canva Sans"/>
                <a:cs typeface="Canva Sans"/>
                <a:sym typeface="Canva Sans"/>
              </a:rPr>
              <a:t>ENROLLMENT NO</a:t>
            </a:r>
            <a:r>
              <a:rPr lang="en-US" sz="200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: 23002170110003</a:t>
            </a:r>
          </a:p>
          <a:p>
            <a:pPr algn="l">
              <a:lnSpc>
                <a:spcPts val="2804"/>
              </a:lnSpc>
            </a:pPr>
            <a:r>
              <a:rPr lang="en-US" sz="2003">
                <a:solidFill>
                  <a:srgbClr val="0075B2"/>
                </a:solidFill>
                <a:latin typeface="Canva Sans"/>
                <a:ea typeface="Canva Sans"/>
                <a:cs typeface="Canva Sans"/>
                <a:sym typeface="Canva Sans"/>
              </a:rPr>
              <a:t>BATCH</a:t>
            </a:r>
            <a:r>
              <a:rPr lang="en-US" sz="200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: A-4</a:t>
            </a:r>
          </a:p>
          <a:p>
            <a:pPr algn="l">
              <a:lnSpc>
                <a:spcPts val="2804"/>
              </a:lnSpc>
            </a:pPr>
            <a:r>
              <a:rPr lang="en-US" sz="2003">
                <a:solidFill>
                  <a:srgbClr val="0075B2"/>
                </a:solidFill>
                <a:latin typeface="Canva Sans"/>
                <a:ea typeface="Canva Sans"/>
                <a:cs typeface="Canva Sans"/>
                <a:sym typeface="Canva Sans"/>
              </a:rPr>
              <a:t>BRANCH </a:t>
            </a:r>
            <a:r>
              <a:rPr lang="en-US" sz="200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CE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117345" y="2875691"/>
            <a:ext cx="5373140" cy="17696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4"/>
              </a:lnSpc>
            </a:pPr>
            <a:r>
              <a:rPr lang="en-US" sz="2003">
                <a:solidFill>
                  <a:srgbClr val="0075B2"/>
                </a:solidFill>
                <a:latin typeface="Canva Sans"/>
                <a:ea typeface="Canva Sans"/>
                <a:cs typeface="Canva Sans"/>
                <a:sym typeface="Canva Sans"/>
              </a:rPr>
              <a:t>NAME</a:t>
            </a:r>
            <a:r>
              <a:rPr lang="en-US" sz="200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: PANCHANI PANKTI ANKITBHAI.</a:t>
            </a:r>
          </a:p>
          <a:p>
            <a:pPr algn="l">
              <a:lnSpc>
                <a:spcPts val="2804"/>
              </a:lnSpc>
            </a:pPr>
            <a:r>
              <a:rPr lang="en-US" sz="2003">
                <a:solidFill>
                  <a:srgbClr val="0075B2"/>
                </a:solidFill>
                <a:latin typeface="Canva Sans"/>
                <a:ea typeface="Canva Sans"/>
                <a:cs typeface="Canva Sans"/>
                <a:sym typeface="Canva Sans"/>
              </a:rPr>
              <a:t>ROLL NO</a:t>
            </a:r>
            <a:r>
              <a:rPr lang="en-US" sz="200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: 131</a:t>
            </a:r>
          </a:p>
          <a:p>
            <a:pPr algn="l">
              <a:lnSpc>
                <a:spcPts val="2804"/>
              </a:lnSpc>
            </a:pPr>
            <a:r>
              <a:rPr lang="en-US" sz="2003">
                <a:solidFill>
                  <a:srgbClr val="0075B2"/>
                </a:solidFill>
                <a:latin typeface="Canva Sans"/>
                <a:ea typeface="Canva Sans"/>
                <a:cs typeface="Canva Sans"/>
                <a:sym typeface="Canva Sans"/>
              </a:rPr>
              <a:t>ENROLLMENT NO</a:t>
            </a:r>
            <a:r>
              <a:rPr lang="en-US" sz="200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: 23002170110107</a:t>
            </a:r>
          </a:p>
          <a:p>
            <a:pPr algn="l">
              <a:lnSpc>
                <a:spcPts val="2804"/>
              </a:lnSpc>
            </a:pPr>
            <a:r>
              <a:rPr lang="en-US" sz="2003">
                <a:solidFill>
                  <a:srgbClr val="0075B2"/>
                </a:solidFill>
                <a:latin typeface="Canva Sans"/>
                <a:ea typeface="Canva Sans"/>
                <a:cs typeface="Canva Sans"/>
                <a:sym typeface="Canva Sans"/>
              </a:rPr>
              <a:t>BATCH</a:t>
            </a:r>
            <a:r>
              <a:rPr lang="en-US" sz="200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: A-4</a:t>
            </a:r>
          </a:p>
          <a:p>
            <a:pPr algn="l">
              <a:lnSpc>
                <a:spcPts val="2804"/>
              </a:lnSpc>
            </a:pPr>
            <a:r>
              <a:rPr lang="en-US" sz="2003">
                <a:solidFill>
                  <a:srgbClr val="0075B2"/>
                </a:solidFill>
                <a:latin typeface="Canva Sans"/>
                <a:ea typeface="Canva Sans"/>
                <a:cs typeface="Canva Sans"/>
                <a:sym typeface="Canva Sans"/>
              </a:rPr>
              <a:t>BRANCH</a:t>
            </a:r>
            <a:r>
              <a:rPr lang="en-US" sz="200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: CE</a:t>
            </a:r>
          </a:p>
        </p:txBody>
      </p:sp>
      <p:sp>
        <p:nvSpPr>
          <p:cNvPr id="13" name="Freeform 13"/>
          <p:cNvSpPr/>
          <p:nvPr/>
        </p:nvSpPr>
        <p:spPr>
          <a:xfrm>
            <a:off x="15344946" y="276870"/>
            <a:ext cx="2693546" cy="683864"/>
          </a:xfrm>
          <a:custGeom>
            <a:avLst/>
            <a:gdLst/>
            <a:ahLst/>
            <a:cxnLst/>
            <a:rect l="l" t="t" r="r" b="b"/>
            <a:pathLst>
              <a:path w="2693546" h="683864">
                <a:moveTo>
                  <a:pt x="0" y="0"/>
                </a:moveTo>
                <a:lnTo>
                  <a:pt x="2693546" y="0"/>
                </a:lnTo>
                <a:lnTo>
                  <a:pt x="2693546" y="683864"/>
                </a:lnTo>
                <a:lnTo>
                  <a:pt x="0" y="6838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943450" y="1293148"/>
            <a:ext cx="7511354" cy="1888729"/>
            <a:chOff x="0" y="0"/>
            <a:chExt cx="10015139" cy="25183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015140" cy="2518306"/>
            </a:xfrm>
            <a:custGeom>
              <a:avLst/>
              <a:gdLst/>
              <a:ahLst/>
              <a:cxnLst/>
              <a:rect l="l" t="t" r="r" b="b"/>
              <a:pathLst>
                <a:path w="10015140" h="2518306">
                  <a:moveTo>
                    <a:pt x="0" y="0"/>
                  </a:moveTo>
                  <a:lnTo>
                    <a:pt x="10015140" y="0"/>
                  </a:lnTo>
                  <a:lnTo>
                    <a:pt x="10015140" y="2518306"/>
                  </a:lnTo>
                  <a:lnTo>
                    <a:pt x="0" y="251830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0015139" cy="2546881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6937"/>
                </a:lnSpc>
              </a:pPr>
              <a:r>
                <a:rPr lang="en-US" sz="5562">
                  <a:solidFill>
                    <a:srgbClr val="403CCF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Purpose of Expense Tracker</a:t>
              </a:r>
            </a:p>
          </p:txBody>
        </p:sp>
      </p:grpSp>
      <p:sp>
        <p:nvSpPr>
          <p:cNvPr id="5" name="Freeform 5"/>
          <p:cNvSpPr/>
          <p:nvPr/>
        </p:nvSpPr>
        <p:spPr>
          <a:xfrm>
            <a:off x="15344946" y="276870"/>
            <a:ext cx="2693546" cy="683864"/>
          </a:xfrm>
          <a:custGeom>
            <a:avLst/>
            <a:gdLst/>
            <a:ahLst/>
            <a:cxnLst/>
            <a:rect l="l" t="t" r="r" b="b"/>
            <a:pathLst>
              <a:path w="2693546" h="683864">
                <a:moveTo>
                  <a:pt x="0" y="0"/>
                </a:moveTo>
                <a:lnTo>
                  <a:pt x="2693546" y="0"/>
                </a:lnTo>
                <a:lnTo>
                  <a:pt x="2693546" y="683864"/>
                </a:lnTo>
                <a:lnTo>
                  <a:pt x="0" y="6838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2759315" y="4572281"/>
            <a:ext cx="4566352" cy="631180"/>
            <a:chOff x="0" y="0"/>
            <a:chExt cx="6088469" cy="84157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088469" cy="841573"/>
            </a:xfrm>
            <a:custGeom>
              <a:avLst/>
              <a:gdLst/>
              <a:ahLst/>
              <a:cxnLst/>
              <a:rect l="l" t="t" r="r" b="b"/>
              <a:pathLst>
                <a:path w="6088469" h="841573">
                  <a:moveTo>
                    <a:pt x="0" y="0"/>
                  </a:moveTo>
                  <a:lnTo>
                    <a:pt x="6088469" y="0"/>
                  </a:lnTo>
                  <a:lnTo>
                    <a:pt x="6088469" y="841573"/>
                  </a:lnTo>
                  <a:lnTo>
                    <a:pt x="0" y="8415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6088469" cy="86062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437"/>
                </a:lnSpc>
              </a:pPr>
              <a:r>
                <a:rPr lang="en-US" sz="2750">
                  <a:solidFill>
                    <a:srgbClr val="403CCF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Financial Overview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759315" y="5427279"/>
            <a:ext cx="4566352" cy="1794245"/>
            <a:chOff x="0" y="0"/>
            <a:chExt cx="6088469" cy="239232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088469" cy="2392326"/>
            </a:xfrm>
            <a:custGeom>
              <a:avLst/>
              <a:gdLst/>
              <a:ahLst/>
              <a:cxnLst/>
              <a:rect l="l" t="t" r="r" b="b"/>
              <a:pathLst>
                <a:path w="6088469" h="2392326">
                  <a:moveTo>
                    <a:pt x="0" y="0"/>
                  </a:moveTo>
                  <a:lnTo>
                    <a:pt x="6088469" y="0"/>
                  </a:lnTo>
                  <a:lnTo>
                    <a:pt x="6088469" y="2392326"/>
                  </a:lnTo>
                  <a:lnTo>
                    <a:pt x="0" y="23923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85725"/>
              <a:ext cx="6088469" cy="2478051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29902" lvl="1" indent="-164951" algn="just">
                <a:lnSpc>
                  <a:spcPts val="3562"/>
                </a:lnSpc>
                <a:buFont typeface="Arial"/>
                <a:buChar char="•"/>
              </a:pPr>
              <a:r>
                <a:rPr lang="en-US" sz="2187">
                  <a:solidFill>
                    <a:srgbClr val="49495A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Provide visual insights (like charts or graphs) to show spending patterns and areas where money could be saved.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105059" y="4572281"/>
            <a:ext cx="4566352" cy="631180"/>
            <a:chOff x="0" y="0"/>
            <a:chExt cx="6088469" cy="84157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088469" cy="841573"/>
            </a:xfrm>
            <a:custGeom>
              <a:avLst/>
              <a:gdLst/>
              <a:ahLst/>
              <a:cxnLst/>
              <a:rect l="l" t="t" r="r" b="b"/>
              <a:pathLst>
                <a:path w="6088469" h="841573">
                  <a:moveTo>
                    <a:pt x="0" y="0"/>
                  </a:moveTo>
                  <a:lnTo>
                    <a:pt x="6088469" y="0"/>
                  </a:lnTo>
                  <a:lnTo>
                    <a:pt x="6088469" y="841573"/>
                  </a:lnTo>
                  <a:lnTo>
                    <a:pt x="0" y="8415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6088469" cy="86062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437"/>
                </a:lnSpc>
              </a:pPr>
              <a:r>
                <a:rPr lang="en-US" sz="2750">
                  <a:solidFill>
                    <a:srgbClr val="403CCF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Financial Planning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105059" y="5427279"/>
            <a:ext cx="4286499" cy="2241880"/>
            <a:chOff x="0" y="0"/>
            <a:chExt cx="5715332" cy="298917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715332" cy="2989174"/>
            </a:xfrm>
            <a:custGeom>
              <a:avLst/>
              <a:gdLst/>
              <a:ahLst/>
              <a:cxnLst/>
              <a:rect l="l" t="t" r="r" b="b"/>
              <a:pathLst>
                <a:path w="5715332" h="2989174">
                  <a:moveTo>
                    <a:pt x="0" y="0"/>
                  </a:moveTo>
                  <a:lnTo>
                    <a:pt x="5715332" y="0"/>
                  </a:lnTo>
                  <a:lnTo>
                    <a:pt x="5715332" y="2989174"/>
                  </a:lnTo>
                  <a:lnTo>
                    <a:pt x="0" y="298917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85725"/>
              <a:ext cx="5715332" cy="307489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29902" lvl="1" indent="-164951" algn="just">
                <a:lnSpc>
                  <a:spcPts val="3562"/>
                </a:lnSpc>
                <a:buFont typeface="Arial"/>
                <a:buChar char="•"/>
              </a:pPr>
              <a:r>
                <a:rPr lang="en-US" sz="2187">
                  <a:solidFill>
                    <a:srgbClr val="49495A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Help with future planning by showing trends, identifying unnecessary expenses, and helping users set financial goals.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943450" y="3921132"/>
            <a:ext cx="6300681" cy="4277641"/>
            <a:chOff x="0" y="0"/>
            <a:chExt cx="3533190" cy="239874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533190" cy="2398744"/>
            </a:xfrm>
            <a:custGeom>
              <a:avLst/>
              <a:gdLst/>
              <a:ahLst/>
              <a:cxnLst/>
              <a:rect l="l" t="t" r="r" b="b"/>
              <a:pathLst>
                <a:path w="3533190" h="2398744">
                  <a:moveTo>
                    <a:pt x="3408730" y="2398744"/>
                  </a:moveTo>
                  <a:lnTo>
                    <a:pt x="124460" y="2398744"/>
                  </a:lnTo>
                  <a:cubicBezTo>
                    <a:pt x="55880" y="2398744"/>
                    <a:pt x="0" y="2342864"/>
                    <a:pt x="0" y="2274283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408730" y="0"/>
                  </a:lnTo>
                  <a:cubicBezTo>
                    <a:pt x="3477310" y="0"/>
                    <a:pt x="3533190" y="55880"/>
                    <a:pt x="3533190" y="124460"/>
                  </a:cubicBezTo>
                  <a:lnTo>
                    <a:pt x="3533190" y="2274284"/>
                  </a:lnTo>
                  <a:cubicBezTo>
                    <a:pt x="3533190" y="2342864"/>
                    <a:pt x="3477310" y="2398744"/>
                    <a:pt x="3408730" y="2398744"/>
                  </a:cubicBezTo>
                  <a:close/>
                </a:path>
              </a:pathLst>
            </a:custGeom>
            <a:solidFill>
              <a:srgbClr val="000000">
                <a:alpha val="9804"/>
              </a:srgbClr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9237895" y="3921132"/>
            <a:ext cx="6300681" cy="4277641"/>
            <a:chOff x="0" y="0"/>
            <a:chExt cx="3533190" cy="239874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533190" cy="2398744"/>
            </a:xfrm>
            <a:custGeom>
              <a:avLst/>
              <a:gdLst/>
              <a:ahLst/>
              <a:cxnLst/>
              <a:rect l="l" t="t" r="r" b="b"/>
              <a:pathLst>
                <a:path w="3533190" h="2398744">
                  <a:moveTo>
                    <a:pt x="3408730" y="2398744"/>
                  </a:moveTo>
                  <a:lnTo>
                    <a:pt x="124460" y="2398744"/>
                  </a:lnTo>
                  <a:cubicBezTo>
                    <a:pt x="55880" y="2398744"/>
                    <a:pt x="0" y="2342864"/>
                    <a:pt x="0" y="2274283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408730" y="0"/>
                  </a:lnTo>
                  <a:cubicBezTo>
                    <a:pt x="3477310" y="0"/>
                    <a:pt x="3533190" y="55880"/>
                    <a:pt x="3533190" y="124460"/>
                  </a:cubicBezTo>
                  <a:lnTo>
                    <a:pt x="3533190" y="2274284"/>
                  </a:lnTo>
                  <a:cubicBezTo>
                    <a:pt x="3533190" y="2342864"/>
                    <a:pt x="3477310" y="2398744"/>
                    <a:pt x="3408730" y="2398744"/>
                  </a:cubicBezTo>
                  <a:close/>
                </a:path>
              </a:pathLst>
            </a:custGeom>
            <a:solidFill>
              <a:srgbClr val="000000">
                <a:alpha val="9804"/>
              </a:srgbClr>
            </a:solidFill>
          </p:spPr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838154" y="1198816"/>
            <a:ext cx="6060591" cy="1888729"/>
            <a:chOff x="0" y="0"/>
            <a:chExt cx="8080788" cy="25183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080788" cy="2518306"/>
            </a:xfrm>
            <a:custGeom>
              <a:avLst/>
              <a:gdLst/>
              <a:ahLst/>
              <a:cxnLst/>
              <a:rect l="l" t="t" r="r" b="b"/>
              <a:pathLst>
                <a:path w="8080788" h="2518306">
                  <a:moveTo>
                    <a:pt x="0" y="0"/>
                  </a:moveTo>
                  <a:lnTo>
                    <a:pt x="8080788" y="0"/>
                  </a:lnTo>
                  <a:lnTo>
                    <a:pt x="8080788" y="2518306"/>
                  </a:lnTo>
                  <a:lnTo>
                    <a:pt x="0" y="251830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8080788" cy="2546881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6937"/>
                </a:lnSpc>
              </a:pPr>
              <a:r>
                <a:rPr lang="en-US" sz="5562">
                  <a:solidFill>
                    <a:srgbClr val="403CCF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Key Features &amp; Technologies</a:t>
              </a:r>
            </a:p>
          </p:txBody>
        </p:sp>
      </p:grpSp>
      <p:sp>
        <p:nvSpPr>
          <p:cNvPr id="5" name="Freeform 5" descr="preencoded.png"/>
          <p:cNvSpPr/>
          <p:nvPr/>
        </p:nvSpPr>
        <p:spPr>
          <a:xfrm>
            <a:off x="9104729" y="3782870"/>
            <a:ext cx="738484" cy="708720"/>
          </a:xfrm>
          <a:custGeom>
            <a:avLst/>
            <a:gdLst/>
            <a:ahLst/>
            <a:cxnLst/>
            <a:rect l="l" t="t" r="r" b="b"/>
            <a:pathLst>
              <a:path w="738484" h="708720">
                <a:moveTo>
                  <a:pt x="0" y="0"/>
                </a:moveTo>
                <a:lnTo>
                  <a:pt x="738483" y="0"/>
                </a:lnTo>
                <a:lnTo>
                  <a:pt x="738483" y="708720"/>
                </a:lnTo>
                <a:lnTo>
                  <a:pt x="0" y="708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099" b="-2099"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8818543" y="4749071"/>
            <a:ext cx="2985259" cy="494982"/>
            <a:chOff x="0" y="0"/>
            <a:chExt cx="3980345" cy="65997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980345" cy="659977"/>
            </a:xfrm>
            <a:custGeom>
              <a:avLst/>
              <a:gdLst/>
              <a:ahLst/>
              <a:cxnLst/>
              <a:rect l="l" t="t" r="r" b="b"/>
              <a:pathLst>
                <a:path w="3980345" h="659977">
                  <a:moveTo>
                    <a:pt x="0" y="0"/>
                  </a:moveTo>
                  <a:lnTo>
                    <a:pt x="3980345" y="0"/>
                  </a:lnTo>
                  <a:lnTo>
                    <a:pt x="3980345" y="659977"/>
                  </a:lnTo>
                  <a:lnTo>
                    <a:pt x="0" y="65997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3980345" cy="67902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437"/>
                </a:lnSpc>
              </a:pPr>
              <a:r>
                <a:rPr lang="en-US" sz="2750" dirty="0">
                  <a:solidFill>
                    <a:srgbClr val="49495A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List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818543" y="5388130"/>
            <a:ext cx="2985259" cy="907256"/>
            <a:chOff x="0" y="0"/>
            <a:chExt cx="3980345" cy="120967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980345" cy="1209675"/>
            </a:xfrm>
            <a:custGeom>
              <a:avLst/>
              <a:gdLst/>
              <a:ahLst/>
              <a:cxnLst/>
              <a:rect l="l" t="t" r="r" b="b"/>
              <a:pathLst>
                <a:path w="3980345" h="1209675">
                  <a:moveTo>
                    <a:pt x="0" y="0"/>
                  </a:moveTo>
                  <a:lnTo>
                    <a:pt x="3980345" y="0"/>
                  </a:lnTo>
                  <a:lnTo>
                    <a:pt x="3980345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85725"/>
              <a:ext cx="3980345" cy="12954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49495A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Efficiently manages expenses.</a:t>
              </a:r>
            </a:p>
          </p:txBody>
        </p:sp>
      </p:grpSp>
      <p:sp>
        <p:nvSpPr>
          <p:cNvPr id="12" name="Freeform 12" descr="preencoded.png"/>
          <p:cNvSpPr/>
          <p:nvPr/>
        </p:nvSpPr>
        <p:spPr>
          <a:xfrm>
            <a:off x="13745215" y="3782870"/>
            <a:ext cx="738484" cy="708720"/>
          </a:xfrm>
          <a:custGeom>
            <a:avLst/>
            <a:gdLst/>
            <a:ahLst/>
            <a:cxnLst/>
            <a:rect l="l" t="t" r="r" b="b"/>
            <a:pathLst>
              <a:path w="738484" h="708720">
                <a:moveTo>
                  <a:pt x="0" y="0"/>
                </a:moveTo>
                <a:lnTo>
                  <a:pt x="738484" y="0"/>
                </a:lnTo>
                <a:lnTo>
                  <a:pt x="738484" y="708720"/>
                </a:lnTo>
                <a:lnTo>
                  <a:pt x="0" y="7087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2099" b="-2099"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13405961" y="4749071"/>
            <a:ext cx="2985414" cy="494982"/>
            <a:chOff x="0" y="0"/>
            <a:chExt cx="3980551" cy="65997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980551" cy="659977"/>
            </a:xfrm>
            <a:custGeom>
              <a:avLst/>
              <a:gdLst/>
              <a:ahLst/>
              <a:cxnLst/>
              <a:rect l="l" t="t" r="r" b="b"/>
              <a:pathLst>
                <a:path w="3980551" h="659977">
                  <a:moveTo>
                    <a:pt x="0" y="0"/>
                  </a:moveTo>
                  <a:lnTo>
                    <a:pt x="3980551" y="0"/>
                  </a:lnTo>
                  <a:lnTo>
                    <a:pt x="3980551" y="659977"/>
                  </a:lnTo>
                  <a:lnTo>
                    <a:pt x="0" y="65997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19050"/>
              <a:ext cx="3980551" cy="67902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437"/>
                </a:lnSpc>
              </a:pPr>
              <a:r>
                <a:rPr lang="en-US" sz="2750">
                  <a:solidFill>
                    <a:srgbClr val="49495A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Matplotlib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3405961" y="5388130"/>
            <a:ext cx="2985414" cy="907256"/>
            <a:chOff x="0" y="0"/>
            <a:chExt cx="3980551" cy="120967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980551" cy="1209675"/>
            </a:xfrm>
            <a:custGeom>
              <a:avLst/>
              <a:gdLst/>
              <a:ahLst/>
              <a:cxnLst/>
              <a:rect l="l" t="t" r="r" b="b"/>
              <a:pathLst>
                <a:path w="3980551" h="1209675">
                  <a:moveTo>
                    <a:pt x="0" y="0"/>
                  </a:moveTo>
                  <a:lnTo>
                    <a:pt x="3980551" y="0"/>
                  </a:lnTo>
                  <a:lnTo>
                    <a:pt x="3980551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85725"/>
              <a:ext cx="3980551" cy="12954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49495A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Visualizes data for easy understanding.</a:t>
              </a:r>
            </a:p>
          </p:txBody>
        </p:sp>
      </p:grpSp>
      <p:sp>
        <p:nvSpPr>
          <p:cNvPr id="19" name="Freeform 19" descr="preencoded.png"/>
          <p:cNvSpPr/>
          <p:nvPr/>
        </p:nvSpPr>
        <p:spPr>
          <a:xfrm>
            <a:off x="13618150" y="6990711"/>
            <a:ext cx="738484" cy="708720"/>
          </a:xfrm>
          <a:custGeom>
            <a:avLst/>
            <a:gdLst/>
            <a:ahLst/>
            <a:cxnLst/>
            <a:rect l="l" t="t" r="r" b="b"/>
            <a:pathLst>
              <a:path w="738484" h="708720">
                <a:moveTo>
                  <a:pt x="0" y="0"/>
                </a:moveTo>
                <a:lnTo>
                  <a:pt x="738483" y="0"/>
                </a:lnTo>
                <a:lnTo>
                  <a:pt x="738483" y="708720"/>
                </a:lnTo>
                <a:lnTo>
                  <a:pt x="0" y="7087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2099" b="-2099"/>
            </a:stretch>
          </a:blipFill>
        </p:spPr>
      </p:sp>
      <p:grpSp>
        <p:nvGrpSpPr>
          <p:cNvPr id="20" name="Group 20"/>
          <p:cNvGrpSpPr/>
          <p:nvPr/>
        </p:nvGrpSpPr>
        <p:grpSpPr>
          <a:xfrm>
            <a:off x="13406116" y="7956912"/>
            <a:ext cx="2985259" cy="494982"/>
            <a:chOff x="0" y="0"/>
            <a:chExt cx="3980345" cy="65997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980345" cy="659977"/>
            </a:xfrm>
            <a:custGeom>
              <a:avLst/>
              <a:gdLst/>
              <a:ahLst/>
              <a:cxnLst/>
              <a:rect l="l" t="t" r="r" b="b"/>
              <a:pathLst>
                <a:path w="3980345" h="659977">
                  <a:moveTo>
                    <a:pt x="0" y="0"/>
                  </a:moveTo>
                  <a:lnTo>
                    <a:pt x="3980345" y="0"/>
                  </a:lnTo>
                  <a:lnTo>
                    <a:pt x="3980345" y="659977"/>
                  </a:lnTo>
                  <a:lnTo>
                    <a:pt x="0" y="65997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19050"/>
              <a:ext cx="3980345" cy="67902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437"/>
                </a:lnSpc>
              </a:pPr>
              <a:r>
                <a:rPr lang="en-US" sz="2750">
                  <a:solidFill>
                    <a:srgbClr val="49495A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NumPy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3406116" y="8595971"/>
            <a:ext cx="2985259" cy="907256"/>
            <a:chOff x="0" y="0"/>
            <a:chExt cx="3980345" cy="1209675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980345" cy="1209675"/>
            </a:xfrm>
            <a:custGeom>
              <a:avLst/>
              <a:gdLst/>
              <a:ahLst/>
              <a:cxnLst/>
              <a:rect l="l" t="t" r="r" b="b"/>
              <a:pathLst>
                <a:path w="3980345" h="1209675">
                  <a:moveTo>
                    <a:pt x="0" y="0"/>
                  </a:moveTo>
                  <a:lnTo>
                    <a:pt x="3980345" y="0"/>
                  </a:lnTo>
                  <a:lnTo>
                    <a:pt x="3980345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85725"/>
              <a:ext cx="3980345" cy="12954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49495A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Performs financial calculations.</a:t>
              </a:r>
            </a:p>
          </p:txBody>
        </p:sp>
      </p:grpSp>
      <p:sp>
        <p:nvSpPr>
          <p:cNvPr id="26" name="Freeform 26"/>
          <p:cNvSpPr/>
          <p:nvPr/>
        </p:nvSpPr>
        <p:spPr>
          <a:xfrm>
            <a:off x="15344946" y="276870"/>
            <a:ext cx="2693546" cy="683864"/>
          </a:xfrm>
          <a:custGeom>
            <a:avLst/>
            <a:gdLst/>
            <a:ahLst/>
            <a:cxnLst/>
            <a:rect l="l" t="t" r="r" b="b"/>
            <a:pathLst>
              <a:path w="2693546" h="683864">
                <a:moveTo>
                  <a:pt x="0" y="0"/>
                </a:moveTo>
                <a:lnTo>
                  <a:pt x="2693546" y="0"/>
                </a:lnTo>
                <a:lnTo>
                  <a:pt x="2693546" y="683864"/>
                </a:lnTo>
                <a:lnTo>
                  <a:pt x="0" y="68386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27" name="Freeform 27" descr="preencoded.png"/>
          <p:cNvSpPr/>
          <p:nvPr/>
        </p:nvSpPr>
        <p:spPr>
          <a:xfrm>
            <a:off x="0" y="0"/>
            <a:ext cx="6858000" cy="10287000"/>
          </a:xfrm>
          <a:custGeom>
            <a:avLst/>
            <a:gdLst/>
            <a:ahLst/>
            <a:cxnLst/>
            <a:rect l="l" t="t" r="r" b="b"/>
            <a:pathLst>
              <a:path w="6858000" h="10287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9138668" y="6857361"/>
            <a:ext cx="881285" cy="881285"/>
          </a:xfrm>
          <a:custGeom>
            <a:avLst/>
            <a:gdLst/>
            <a:ahLst/>
            <a:cxnLst/>
            <a:rect l="l" t="t" r="r" b="b"/>
            <a:pathLst>
              <a:path w="881285" h="881285">
                <a:moveTo>
                  <a:pt x="0" y="0"/>
                </a:moveTo>
                <a:lnTo>
                  <a:pt x="881285" y="0"/>
                </a:lnTo>
                <a:lnTo>
                  <a:pt x="881285" y="881286"/>
                </a:lnTo>
                <a:lnTo>
                  <a:pt x="0" y="88128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29" name="Group 29"/>
          <p:cNvGrpSpPr/>
          <p:nvPr/>
        </p:nvGrpSpPr>
        <p:grpSpPr>
          <a:xfrm>
            <a:off x="8799413" y="7995822"/>
            <a:ext cx="1716063" cy="494983"/>
            <a:chOff x="0" y="0"/>
            <a:chExt cx="2288084" cy="659977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288084" cy="659977"/>
            </a:xfrm>
            <a:custGeom>
              <a:avLst/>
              <a:gdLst/>
              <a:ahLst/>
              <a:cxnLst/>
              <a:rect l="l" t="t" r="r" b="b"/>
              <a:pathLst>
                <a:path w="2288084" h="659977">
                  <a:moveTo>
                    <a:pt x="0" y="0"/>
                  </a:moveTo>
                  <a:lnTo>
                    <a:pt x="2288084" y="0"/>
                  </a:lnTo>
                  <a:lnTo>
                    <a:pt x="2288084" y="659977"/>
                  </a:lnTo>
                  <a:lnTo>
                    <a:pt x="0" y="65997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0" y="-19050"/>
              <a:ext cx="2288084" cy="67902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437"/>
                </a:lnSpc>
              </a:pPr>
              <a:r>
                <a:rPr lang="en-US" sz="2750">
                  <a:solidFill>
                    <a:srgbClr val="49495A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yagmail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8799413" y="8633679"/>
            <a:ext cx="2985414" cy="907256"/>
            <a:chOff x="0" y="0"/>
            <a:chExt cx="3980551" cy="1209675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3980551" cy="1209675"/>
            </a:xfrm>
            <a:custGeom>
              <a:avLst/>
              <a:gdLst/>
              <a:ahLst/>
              <a:cxnLst/>
              <a:rect l="l" t="t" r="r" b="b"/>
              <a:pathLst>
                <a:path w="3980551" h="1209675">
                  <a:moveTo>
                    <a:pt x="0" y="0"/>
                  </a:moveTo>
                  <a:lnTo>
                    <a:pt x="3980551" y="0"/>
                  </a:lnTo>
                  <a:lnTo>
                    <a:pt x="3980551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0" y="-85725"/>
              <a:ext cx="3980551" cy="12954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49495A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Send expense report through gmail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6858000" cy="10287000"/>
          </a:xfrm>
          <a:custGeom>
            <a:avLst/>
            <a:gdLst/>
            <a:ahLst/>
            <a:cxnLst/>
            <a:rect l="l" t="t" r="r" b="b"/>
            <a:pathLst>
              <a:path w="6858000" h="10287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7850237" y="1936254"/>
            <a:ext cx="5644158" cy="1012468"/>
            <a:chOff x="0" y="0"/>
            <a:chExt cx="7525544" cy="134995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525545" cy="1349958"/>
            </a:xfrm>
            <a:custGeom>
              <a:avLst/>
              <a:gdLst/>
              <a:ahLst/>
              <a:cxnLst/>
              <a:rect l="l" t="t" r="r" b="b"/>
              <a:pathLst>
                <a:path w="7525545" h="1349958">
                  <a:moveTo>
                    <a:pt x="0" y="0"/>
                  </a:moveTo>
                  <a:lnTo>
                    <a:pt x="7525545" y="0"/>
                  </a:lnTo>
                  <a:lnTo>
                    <a:pt x="7525545" y="1349958"/>
                  </a:lnTo>
                  <a:lnTo>
                    <a:pt x="0" y="13499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7525544" cy="137853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6937"/>
                </a:lnSpc>
              </a:pPr>
              <a:r>
                <a:rPr lang="en-US" sz="5562">
                  <a:solidFill>
                    <a:srgbClr val="403CCF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Python Classes</a:t>
              </a:r>
            </a:p>
          </p:txBody>
        </p:sp>
      </p:grpSp>
      <p:sp>
        <p:nvSpPr>
          <p:cNvPr id="6" name="Freeform 6"/>
          <p:cNvSpPr/>
          <p:nvPr/>
        </p:nvSpPr>
        <p:spPr>
          <a:xfrm>
            <a:off x="15344946" y="276870"/>
            <a:ext cx="2693546" cy="683864"/>
          </a:xfrm>
          <a:custGeom>
            <a:avLst/>
            <a:gdLst/>
            <a:ahLst/>
            <a:cxnLst/>
            <a:rect l="l" t="t" r="r" b="b"/>
            <a:pathLst>
              <a:path w="2693546" h="683864">
                <a:moveTo>
                  <a:pt x="0" y="0"/>
                </a:moveTo>
                <a:lnTo>
                  <a:pt x="2693546" y="0"/>
                </a:lnTo>
                <a:lnTo>
                  <a:pt x="2693546" y="683864"/>
                </a:lnTo>
                <a:lnTo>
                  <a:pt x="0" y="6838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0017164" y="3495157"/>
            <a:ext cx="5349215" cy="5763143"/>
          </a:xfrm>
          <a:custGeom>
            <a:avLst/>
            <a:gdLst/>
            <a:ahLst/>
            <a:cxnLst/>
            <a:rect l="l" t="t" r="r" b="b"/>
            <a:pathLst>
              <a:path w="5349215" h="5763143">
                <a:moveTo>
                  <a:pt x="0" y="0"/>
                </a:moveTo>
                <a:lnTo>
                  <a:pt x="5349215" y="0"/>
                </a:lnTo>
                <a:lnTo>
                  <a:pt x="5349215" y="5763143"/>
                </a:lnTo>
                <a:lnTo>
                  <a:pt x="0" y="57631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588944" y="4199135"/>
            <a:ext cx="4300365" cy="1888729"/>
            <a:chOff x="0" y="0"/>
            <a:chExt cx="5733821" cy="25183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733821" cy="2518306"/>
            </a:xfrm>
            <a:custGeom>
              <a:avLst/>
              <a:gdLst/>
              <a:ahLst/>
              <a:cxnLst/>
              <a:rect l="l" t="t" r="r" b="b"/>
              <a:pathLst>
                <a:path w="5733821" h="2518306">
                  <a:moveTo>
                    <a:pt x="0" y="0"/>
                  </a:moveTo>
                  <a:lnTo>
                    <a:pt x="5733821" y="0"/>
                  </a:lnTo>
                  <a:lnTo>
                    <a:pt x="5733821" y="2518306"/>
                  </a:lnTo>
                  <a:lnTo>
                    <a:pt x="0" y="251830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5733821" cy="2546881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6937"/>
                </a:lnSpc>
              </a:pPr>
              <a:r>
                <a:rPr lang="en-US" sz="5562">
                  <a:solidFill>
                    <a:srgbClr val="403CCF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Merits and Demerits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686620" y="0"/>
            <a:ext cx="8601380" cy="10287000"/>
            <a:chOff x="0" y="0"/>
            <a:chExt cx="4823337" cy="576857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823337" cy="5768571"/>
            </a:xfrm>
            <a:custGeom>
              <a:avLst/>
              <a:gdLst/>
              <a:ahLst/>
              <a:cxnLst/>
              <a:rect l="l" t="t" r="r" b="b"/>
              <a:pathLst>
                <a:path w="4823337" h="5768571">
                  <a:moveTo>
                    <a:pt x="4698877" y="5768570"/>
                  </a:moveTo>
                  <a:lnTo>
                    <a:pt x="124460" y="5768570"/>
                  </a:lnTo>
                  <a:cubicBezTo>
                    <a:pt x="55880" y="5768570"/>
                    <a:pt x="0" y="5712690"/>
                    <a:pt x="0" y="5644111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4698877" y="0"/>
                  </a:lnTo>
                  <a:cubicBezTo>
                    <a:pt x="4767457" y="0"/>
                    <a:pt x="4823337" y="55880"/>
                    <a:pt x="4823337" y="124460"/>
                  </a:cubicBezTo>
                  <a:lnTo>
                    <a:pt x="4823337" y="5644111"/>
                  </a:lnTo>
                  <a:cubicBezTo>
                    <a:pt x="4823337" y="5712690"/>
                    <a:pt x="4767457" y="5768571"/>
                    <a:pt x="4698877" y="5768571"/>
                  </a:cubicBezTo>
                  <a:close/>
                </a:path>
              </a:pathLst>
            </a:custGeom>
            <a:solidFill>
              <a:srgbClr val="000000">
                <a:alpha val="9804"/>
              </a:srgbClr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12596531" y="2514574"/>
            <a:ext cx="2567362" cy="494982"/>
            <a:chOff x="0" y="0"/>
            <a:chExt cx="3423149" cy="65997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423149" cy="659977"/>
            </a:xfrm>
            <a:custGeom>
              <a:avLst/>
              <a:gdLst/>
              <a:ahLst/>
              <a:cxnLst/>
              <a:rect l="l" t="t" r="r" b="b"/>
              <a:pathLst>
                <a:path w="3423149" h="659977">
                  <a:moveTo>
                    <a:pt x="0" y="0"/>
                  </a:moveTo>
                  <a:lnTo>
                    <a:pt x="3423149" y="0"/>
                  </a:lnTo>
                  <a:lnTo>
                    <a:pt x="3423149" y="659977"/>
                  </a:lnTo>
                  <a:lnTo>
                    <a:pt x="0" y="65997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3423149" cy="67902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437"/>
                </a:lnSpc>
              </a:pPr>
              <a:r>
                <a:rPr lang="en-US" sz="2750">
                  <a:solidFill>
                    <a:srgbClr val="403CCF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Merits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2596531" y="3267039"/>
            <a:ext cx="2827354" cy="453629"/>
            <a:chOff x="0" y="0"/>
            <a:chExt cx="3769805" cy="60483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769806" cy="604838"/>
            </a:xfrm>
            <a:custGeom>
              <a:avLst/>
              <a:gdLst/>
              <a:ahLst/>
              <a:cxnLst/>
              <a:rect l="l" t="t" r="r" b="b"/>
              <a:pathLst>
                <a:path w="3769806" h="604838">
                  <a:moveTo>
                    <a:pt x="0" y="0"/>
                  </a:moveTo>
                  <a:lnTo>
                    <a:pt x="3769806" y="0"/>
                  </a:lnTo>
                  <a:lnTo>
                    <a:pt x="3769806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85725"/>
              <a:ext cx="3769805" cy="69056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29902" lvl="1" indent="-164951" algn="l">
                <a:lnSpc>
                  <a:spcPts val="3562"/>
                </a:lnSpc>
                <a:buFont typeface="Arial"/>
                <a:buChar char="•"/>
              </a:pPr>
              <a:r>
                <a:rPr lang="en-US" sz="2187">
                  <a:solidFill>
                    <a:srgbClr val="49495A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Easy to Use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2596531" y="3819786"/>
            <a:ext cx="2827354" cy="453629"/>
            <a:chOff x="0" y="0"/>
            <a:chExt cx="3769805" cy="60483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769806" cy="604838"/>
            </a:xfrm>
            <a:custGeom>
              <a:avLst/>
              <a:gdLst/>
              <a:ahLst/>
              <a:cxnLst/>
              <a:rect l="l" t="t" r="r" b="b"/>
              <a:pathLst>
                <a:path w="3769806" h="604838">
                  <a:moveTo>
                    <a:pt x="0" y="0"/>
                  </a:moveTo>
                  <a:lnTo>
                    <a:pt x="3769806" y="0"/>
                  </a:lnTo>
                  <a:lnTo>
                    <a:pt x="3769806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85725"/>
              <a:ext cx="3769805" cy="69056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29902" lvl="1" indent="-164951" algn="l">
                <a:lnSpc>
                  <a:spcPts val="3562"/>
                </a:lnSpc>
                <a:buFont typeface="Arial"/>
                <a:buChar char="•"/>
              </a:pPr>
              <a:r>
                <a:rPr lang="en-US" sz="2187">
                  <a:solidFill>
                    <a:srgbClr val="49495A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Clear Visuals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2596531" y="4372534"/>
            <a:ext cx="2827354" cy="453629"/>
            <a:chOff x="0" y="0"/>
            <a:chExt cx="3769805" cy="60483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769806" cy="604838"/>
            </a:xfrm>
            <a:custGeom>
              <a:avLst/>
              <a:gdLst/>
              <a:ahLst/>
              <a:cxnLst/>
              <a:rect l="l" t="t" r="r" b="b"/>
              <a:pathLst>
                <a:path w="3769806" h="604838">
                  <a:moveTo>
                    <a:pt x="0" y="0"/>
                  </a:moveTo>
                  <a:lnTo>
                    <a:pt x="3769806" y="0"/>
                  </a:lnTo>
                  <a:lnTo>
                    <a:pt x="3769806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85725"/>
              <a:ext cx="3769805" cy="69056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29902" lvl="1" indent="-164951" algn="l">
                <a:lnSpc>
                  <a:spcPts val="3562"/>
                </a:lnSpc>
                <a:buFont typeface="Arial"/>
                <a:buChar char="•"/>
              </a:pPr>
              <a:r>
                <a:rPr lang="en-US" sz="2187">
                  <a:solidFill>
                    <a:srgbClr val="49495A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Customizable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2596531" y="6044715"/>
            <a:ext cx="2682687" cy="494982"/>
            <a:chOff x="0" y="0"/>
            <a:chExt cx="3576916" cy="65997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576916" cy="659977"/>
            </a:xfrm>
            <a:custGeom>
              <a:avLst/>
              <a:gdLst/>
              <a:ahLst/>
              <a:cxnLst/>
              <a:rect l="l" t="t" r="r" b="b"/>
              <a:pathLst>
                <a:path w="3576916" h="659977">
                  <a:moveTo>
                    <a:pt x="0" y="0"/>
                  </a:moveTo>
                  <a:lnTo>
                    <a:pt x="3576916" y="0"/>
                  </a:lnTo>
                  <a:lnTo>
                    <a:pt x="3576916" y="659977"/>
                  </a:lnTo>
                  <a:lnTo>
                    <a:pt x="0" y="65997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19050"/>
              <a:ext cx="3576916" cy="67902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437"/>
                </a:lnSpc>
              </a:pPr>
              <a:r>
                <a:rPr lang="en-US" sz="2750">
                  <a:solidFill>
                    <a:srgbClr val="403CCF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Demerits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2596531" y="6797180"/>
            <a:ext cx="3081362" cy="552747"/>
            <a:chOff x="0" y="0"/>
            <a:chExt cx="4108483" cy="736997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108483" cy="736997"/>
            </a:xfrm>
            <a:custGeom>
              <a:avLst/>
              <a:gdLst/>
              <a:ahLst/>
              <a:cxnLst/>
              <a:rect l="l" t="t" r="r" b="b"/>
              <a:pathLst>
                <a:path w="4108483" h="736997">
                  <a:moveTo>
                    <a:pt x="0" y="0"/>
                  </a:moveTo>
                  <a:lnTo>
                    <a:pt x="4108483" y="0"/>
                  </a:lnTo>
                  <a:lnTo>
                    <a:pt x="4108483" y="736997"/>
                  </a:lnTo>
                  <a:lnTo>
                    <a:pt x="0" y="7369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85725"/>
              <a:ext cx="4108483" cy="82272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29902" lvl="1" indent="-164951" algn="l">
                <a:lnSpc>
                  <a:spcPts val="3562"/>
                </a:lnSpc>
                <a:buFont typeface="Arial"/>
                <a:buChar char="•"/>
              </a:pPr>
              <a:r>
                <a:rPr lang="en-US" sz="2187">
                  <a:solidFill>
                    <a:srgbClr val="49495A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Limited features</a:t>
              </a:r>
            </a:p>
          </p:txBody>
        </p:sp>
      </p:grpSp>
      <p:sp>
        <p:nvSpPr>
          <p:cNvPr id="25" name="Freeform 25"/>
          <p:cNvSpPr/>
          <p:nvPr/>
        </p:nvSpPr>
        <p:spPr>
          <a:xfrm>
            <a:off x="15344946" y="276870"/>
            <a:ext cx="2693546" cy="683864"/>
          </a:xfrm>
          <a:custGeom>
            <a:avLst/>
            <a:gdLst/>
            <a:ahLst/>
            <a:cxnLst/>
            <a:rect l="l" t="t" r="r" b="b"/>
            <a:pathLst>
              <a:path w="2693546" h="683864">
                <a:moveTo>
                  <a:pt x="0" y="0"/>
                </a:moveTo>
                <a:lnTo>
                  <a:pt x="2693546" y="0"/>
                </a:lnTo>
                <a:lnTo>
                  <a:pt x="2693546" y="683864"/>
                </a:lnTo>
                <a:lnTo>
                  <a:pt x="0" y="6838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3205757"/>
          </a:xfrm>
          <a:custGeom>
            <a:avLst/>
            <a:gdLst/>
            <a:ahLst/>
            <a:cxnLst/>
            <a:rect l="l" t="t" r="r" b="b"/>
            <a:pathLst>
              <a:path w="18288000" h="3205757">
                <a:moveTo>
                  <a:pt x="0" y="0"/>
                </a:moveTo>
                <a:lnTo>
                  <a:pt x="18288000" y="0"/>
                </a:lnTo>
                <a:lnTo>
                  <a:pt x="18288000" y="3205757"/>
                </a:lnTo>
                <a:lnTo>
                  <a:pt x="0" y="320575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4000"/>
            </a:blip>
            <a:stretch>
              <a:fillRect t="-65" b="-65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891754" y="3878832"/>
            <a:ext cx="7266534" cy="801440"/>
            <a:chOff x="0" y="0"/>
            <a:chExt cx="9688712" cy="106858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688712" cy="1068587"/>
            </a:xfrm>
            <a:custGeom>
              <a:avLst/>
              <a:gdLst/>
              <a:ahLst/>
              <a:cxnLst/>
              <a:rect l="l" t="t" r="r" b="b"/>
              <a:pathLst>
                <a:path w="9688712" h="1068587">
                  <a:moveTo>
                    <a:pt x="0" y="0"/>
                  </a:moveTo>
                  <a:lnTo>
                    <a:pt x="9688712" y="0"/>
                  </a:lnTo>
                  <a:lnTo>
                    <a:pt x="9688712" y="1068587"/>
                  </a:lnTo>
                  <a:lnTo>
                    <a:pt x="0" y="106858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9688712" cy="108763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6249"/>
                </a:lnSpc>
              </a:pPr>
              <a:r>
                <a:rPr lang="en-US" sz="4999">
                  <a:solidFill>
                    <a:srgbClr val="403CCF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Future Enhancements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129712" y="5096916"/>
            <a:ext cx="28575" cy="4487764"/>
            <a:chOff x="0" y="0"/>
            <a:chExt cx="38100" cy="598368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8100" cy="5983732"/>
            </a:xfrm>
            <a:custGeom>
              <a:avLst/>
              <a:gdLst/>
              <a:ahLst/>
              <a:cxnLst/>
              <a:rect l="l" t="t" r="r" b="b"/>
              <a:pathLst>
                <a:path w="38100" h="5983732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5964682"/>
                  </a:lnTo>
                  <a:cubicBezTo>
                    <a:pt x="38100" y="5975223"/>
                    <a:pt x="29591" y="5983732"/>
                    <a:pt x="19050" y="5983732"/>
                  </a:cubicBezTo>
                  <a:cubicBezTo>
                    <a:pt x="8509" y="5983732"/>
                    <a:pt x="0" y="5975223"/>
                    <a:pt x="0" y="5964682"/>
                  </a:cubicBezTo>
                  <a:close/>
                </a:path>
              </a:pathLst>
            </a:custGeom>
            <a:solidFill>
              <a:srgbClr val="D0CED9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7986489" y="5659488"/>
            <a:ext cx="897582" cy="28575"/>
            <a:chOff x="0" y="0"/>
            <a:chExt cx="1196777" cy="381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96721" cy="38100"/>
            </a:xfrm>
            <a:custGeom>
              <a:avLst/>
              <a:gdLst/>
              <a:ahLst/>
              <a:cxnLst/>
              <a:rect l="l" t="t" r="r" b="b"/>
              <a:pathLst>
                <a:path w="1196721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1177671" y="0"/>
                  </a:lnTo>
                  <a:cubicBezTo>
                    <a:pt x="1188212" y="0"/>
                    <a:pt x="1196721" y="8509"/>
                    <a:pt x="1196721" y="19050"/>
                  </a:cubicBezTo>
                  <a:cubicBezTo>
                    <a:pt x="1196721" y="29591"/>
                    <a:pt x="1188212" y="38100"/>
                    <a:pt x="1177671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D0CED9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8855496" y="5385346"/>
            <a:ext cx="577006" cy="577006"/>
            <a:chOff x="0" y="0"/>
            <a:chExt cx="769342" cy="76934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69366" cy="769366"/>
            </a:xfrm>
            <a:custGeom>
              <a:avLst/>
              <a:gdLst/>
              <a:ahLst/>
              <a:cxnLst/>
              <a:rect l="l" t="t" r="r" b="b"/>
              <a:pathLst>
                <a:path w="769366" h="769366">
                  <a:moveTo>
                    <a:pt x="0" y="51308"/>
                  </a:moveTo>
                  <a:cubicBezTo>
                    <a:pt x="0" y="22987"/>
                    <a:pt x="22987" y="0"/>
                    <a:pt x="51308" y="0"/>
                  </a:cubicBezTo>
                  <a:lnTo>
                    <a:pt x="718058" y="0"/>
                  </a:lnTo>
                  <a:cubicBezTo>
                    <a:pt x="746379" y="0"/>
                    <a:pt x="769366" y="22987"/>
                    <a:pt x="769366" y="51308"/>
                  </a:cubicBezTo>
                  <a:lnTo>
                    <a:pt x="769366" y="718058"/>
                  </a:lnTo>
                  <a:cubicBezTo>
                    <a:pt x="769366" y="746379"/>
                    <a:pt x="746379" y="769366"/>
                    <a:pt x="718058" y="769366"/>
                  </a:cubicBezTo>
                  <a:lnTo>
                    <a:pt x="51308" y="769366"/>
                  </a:lnTo>
                  <a:cubicBezTo>
                    <a:pt x="22987" y="769366"/>
                    <a:pt x="0" y="746379"/>
                    <a:pt x="0" y="718058"/>
                  </a:cubicBezTo>
                  <a:close/>
                </a:path>
              </a:pathLst>
            </a:custGeom>
            <a:solidFill>
              <a:srgbClr val="EAE8F3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9058200" y="5481489"/>
            <a:ext cx="171599" cy="384721"/>
            <a:chOff x="0" y="0"/>
            <a:chExt cx="228798" cy="51296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28798" cy="512962"/>
            </a:xfrm>
            <a:custGeom>
              <a:avLst/>
              <a:gdLst/>
              <a:ahLst/>
              <a:cxnLst/>
              <a:rect l="l" t="t" r="r" b="b"/>
              <a:pathLst>
                <a:path w="228798" h="512962">
                  <a:moveTo>
                    <a:pt x="0" y="0"/>
                  </a:moveTo>
                  <a:lnTo>
                    <a:pt x="228798" y="0"/>
                  </a:lnTo>
                  <a:lnTo>
                    <a:pt x="228798" y="512962"/>
                  </a:lnTo>
                  <a:lnTo>
                    <a:pt x="0" y="5129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57150"/>
              <a:ext cx="228798" cy="45581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000"/>
                </a:lnSpc>
              </a:pPr>
              <a:r>
                <a:rPr lang="en-US" sz="3000">
                  <a:solidFill>
                    <a:srgbClr val="49495A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1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527797" y="5353347"/>
            <a:ext cx="3205757" cy="400645"/>
            <a:chOff x="0" y="0"/>
            <a:chExt cx="4274343" cy="53419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274343" cy="534193"/>
            </a:xfrm>
            <a:custGeom>
              <a:avLst/>
              <a:gdLst/>
              <a:ahLst/>
              <a:cxnLst/>
              <a:rect l="l" t="t" r="r" b="b"/>
              <a:pathLst>
                <a:path w="4274343" h="534193">
                  <a:moveTo>
                    <a:pt x="0" y="0"/>
                  </a:moveTo>
                  <a:lnTo>
                    <a:pt x="4274343" y="0"/>
                  </a:lnTo>
                  <a:lnTo>
                    <a:pt x="4274343" y="534193"/>
                  </a:lnTo>
                  <a:lnTo>
                    <a:pt x="0" y="53419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19050"/>
              <a:ext cx="4274343" cy="55324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r">
                <a:lnSpc>
                  <a:spcPts val="3124"/>
                </a:lnSpc>
              </a:pPr>
              <a:r>
                <a:rPr lang="en-US" sz="2499">
                  <a:solidFill>
                    <a:srgbClr val="49495A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AI-Driven Insights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897583" y="5907732"/>
            <a:ext cx="6835974" cy="410170"/>
            <a:chOff x="0" y="0"/>
            <a:chExt cx="9114632" cy="54689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114632" cy="546893"/>
            </a:xfrm>
            <a:custGeom>
              <a:avLst/>
              <a:gdLst/>
              <a:ahLst/>
              <a:cxnLst/>
              <a:rect l="l" t="t" r="r" b="b"/>
              <a:pathLst>
                <a:path w="9114632" h="546893">
                  <a:moveTo>
                    <a:pt x="0" y="0"/>
                  </a:moveTo>
                  <a:lnTo>
                    <a:pt x="9114632" y="0"/>
                  </a:lnTo>
                  <a:lnTo>
                    <a:pt x="9114632" y="546893"/>
                  </a:lnTo>
                  <a:lnTo>
                    <a:pt x="0" y="54689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76200"/>
              <a:ext cx="9114632" cy="62309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r">
                <a:lnSpc>
                  <a:spcPts val="3187"/>
                </a:lnSpc>
              </a:pPr>
              <a:r>
                <a:rPr lang="en-US" sz="2000">
                  <a:solidFill>
                    <a:srgbClr val="49495A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Predictive spending analysis.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03929" y="6941641"/>
            <a:ext cx="897582" cy="28575"/>
            <a:chOff x="0" y="0"/>
            <a:chExt cx="1196777" cy="381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196721" cy="38100"/>
            </a:xfrm>
            <a:custGeom>
              <a:avLst/>
              <a:gdLst/>
              <a:ahLst/>
              <a:cxnLst/>
              <a:rect l="l" t="t" r="r" b="b"/>
              <a:pathLst>
                <a:path w="1196721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1177671" y="0"/>
                  </a:lnTo>
                  <a:cubicBezTo>
                    <a:pt x="1188212" y="0"/>
                    <a:pt x="1196721" y="8509"/>
                    <a:pt x="1196721" y="19050"/>
                  </a:cubicBezTo>
                  <a:cubicBezTo>
                    <a:pt x="1196721" y="29591"/>
                    <a:pt x="1188212" y="38100"/>
                    <a:pt x="1177671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D0CED9"/>
            </a:solidFill>
          </p:spPr>
        </p:sp>
      </p:grpSp>
      <p:grpSp>
        <p:nvGrpSpPr>
          <p:cNvPr id="23" name="Group 23"/>
          <p:cNvGrpSpPr/>
          <p:nvPr/>
        </p:nvGrpSpPr>
        <p:grpSpPr>
          <a:xfrm>
            <a:off x="8855496" y="6667500"/>
            <a:ext cx="577006" cy="577006"/>
            <a:chOff x="0" y="0"/>
            <a:chExt cx="769342" cy="76934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769366" cy="769366"/>
            </a:xfrm>
            <a:custGeom>
              <a:avLst/>
              <a:gdLst/>
              <a:ahLst/>
              <a:cxnLst/>
              <a:rect l="l" t="t" r="r" b="b"/>
              <a:pathLst>
                <a:path w="769366" h="769366">
                  <a:moveTo>
                    <a:pt x="0" y="51308"/>
                  </a:moveTo>
                  <a:cubicBezTo>
                    <a:pt x="0" y="22987"/>
                    <a:pt x="22987" y="0"/>
                    <a:pt x="51308" y="0"/>
                  </a:cubicBezTo>
                  <a:lnTo>
                    <a:pt x="718058" y="0"/>
                  </a:lnTo>
                  <a:cubicBezTo>
                    <a:pt x="746379" y="0"/>
                    <a:pt x="769366" y="22987"/>
                    <a:pt x="769366" y="51308"/>
                  </a:cubicBezTo>
                  <a:lnTo>
                    <a:pt x="769366" y="718058"/>
                  </a:lnTo>
                  <a:cubicBezTo>
                    <a:pt x="769366" y="746379"/>
                    <a:pt x="746379" y="769366"/>
                    <a:pt x="718058" y="769366"/>
                  </a:cubicBezTo>
                  <a:lnTo>
                    <a:pt x="51308" y="769366"/>
                  </a:lnTo>
                  <a:cubicBezTo>
                    <a:pt x="22987" y="769366"/>
                    <a:pt x="0" y="746379"/>
                    <a:pt x="0" y="718058"/>
                  </a:cubicBezTo>
                  <a:close/>
                </a:path>
              </a:pathLst>
            </a:custGeom>
            <a:solidFill>
              <a:srgbClr val="EAE8F3"/>
            </a:solidFill>
          </p:spPr>
        </p:sp>
      </p:grpSp>
      <p:grpSp>
        <p:nvGrpSpPr>
          <p:cNvPr id="25" name="Group 25"/>
          <p:cNvGrpSpPr/>
          <p:nvPr/>
        </p:nvGrpSpPr>
        <p:grpSpPr>
          <a:xfrm>
            <a:off x="9025459" y="6763642"/>
            <a:ext cx="236935" cy="384721"/>
            <a:chOff x="0" y="0"/>
            <a:chExt cx="315913" cy="512962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315913" cy="512962"/>
            </a:xfrm>
            <a:custGeom>
              <a:avLst/>
              <a:gdLst/>
              <a:ahLst/>
              <a:cxnLst/>
              <a:rect l="l" t="t" r="r" b="b"/>
              <a:pathLst>
                <a:path w="315913" h="512962">
                  <a:moveTo>
                    <a:pt x="0" y="0"/>
                  </a:moveTo>
                  <a:lnTo>
                    <a:pt x="315913" y="0"/>
                  </a:lnTo>
                  <a:lnTo>
                    <a:pt x="315913" y="512962"/>
                  </a:lnTo>
                  <a:lnTo>
                    <a:pt x="0" y="5129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0" y="57150"/>
              <a:ext cx="315913" cy="45581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000"/>
                </a:lnSpc>
              </a:pPr>
              <a:r>
                <a:rPr lang="en-US" sz="3000">
                  <a:solidFill>
                    <a:srgbClr val="49495A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0554444" y="6561065"/>
            <a:ext cx="3801370" cy="450830"/>
            <a:chOff x="0" y="0"/>
            <a:chExt cx="4274343" cy="506924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4274343" cy="506924"/>
            </a:xfrm>
            <a:custGeom>
              <a:avLst/>
              <a:gdLst/>
              <a:ahLst/>
              <a:cxnLst/>
              <a:rect l="l" t="t" r="r" b="b"/>
              <a:pathLst>
                <a:path w="4274343" h="506924">
                  <a:moveTo>
                    <a:pt x="0" y="0"/>
                  </a:moveTo>
                  <a:lnTo>
                    <a:pt x="4274343" y="0"/>
                  </a:lnTo>
                  <a:lnTo>
                    <a:pt x="4274343" y="506924"/>
                  </a:lnTo>
                  <a:lnTo>
                    <a:pt x="0" y="50692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0" y="-19050"/>
              <a:ext cx="4274343" cy="525974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124"/>
                </a:lnSpc>
              </a:pPr>
              <a:r>
                <a:rPr lang="en-US" sz="2499">
                  <a:solidFill>
                    <a:srgbClr val="49495A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Cloud Integration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0554444" y="7244506"/>
            <a:ext cx="6665782" cy="414640"/>
            <a:chOff x="0" y="0"/>
            <a:chExt cx="9114632" cy="56696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9114632" cy="566969"/>
            </a:xfrm>
            <a:custGeom>
              <a:avLst/>
              <a:gdLst/>
              <a:ahLst/>
              <a:cxnLst/>
              <a:rect l="l" t="t" r="r" b="b"/>
              <a:pathLst>
                <a:path w="9114632" h="566969">
                  <a:moveTo>
                    <a:pt x="0" y="0"/>
                  </a:moveTo>
                  <a:lnTo>
                    <a:pt x="9114632" y="0"/>
                  </a:lnTo>
                  <a:lnTo>
                    <a:pt x="9114632" y="566969"/>
                  </a:lnTo>
                  <a:lnTo>
                    <a:pt x="0" y="56696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0" y="-76200"/>
              <a:ext cx="9114632" cy="64316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187"/>
                </a:lnSpc>
              </a:pPr>
              <a:r>
                <a:rPr lang="en-US" sz="2000">
                  <a:solidFill>
                    <a:srgbClr val="49495A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Store user data on the cloud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986489" y="8095655"/>
            <a:ext cx="897582" cy="28575"/>
            <a:chOff x="0" y="0"/>
            <a:chExt cx="1196777" cy="381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196721" cy="38100"/>
            </a:xfrm>
            <a:custGeom>
              <a:avLst/>
              <a:gdLst/>
              <a:ahLst/>
              <a:cxnLst/>
              <a:rect l="l" t="t" r="r" b="b"/>
              <a:pathLst>
                <a:path w="1196721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1177671" y="0"/>
                  </a:lnTo>
                  <a:cubicBezTo>
                    <a:pt x="1188212" y="0"/>
                    <a:pt x="1196721" y="8509"/>
                    <a:pt x="1196721" y="19050"/>
                  </a:cubicBezTo>
                  <a:cubicBezTo>
                    <a:pt x="1196721" y="29591"/>
                    <a:pt x="1188212" y="38100"/>
                    <a:pt x="1177671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D0CED9"/>
            </a:solidFill>
          </p:spPr>
        </p:sp>
      </p:grpSp>
      <p:grpSp>
        <p:nvGrpSpPr>
          <p:cNvPr id="36" name="Group 36"/>
          <p:cNvGrpSpPr/>
          <p:nvPr/>
        </p:nvGrpSpPr>
        <p:grpSpPr>
          <a:xfrm>
            <a:off x="8855496" y="7821514"/>
            <a:ext cx="577006" cy="577006"/>
            <a:chOff x="0" y="0"/>
            <a:chExt cx="769342" cy="769342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769366" cy="769366"/>
            </a:xfrm>
            <a:custGeom>
              <a:avLst/>
              <a:gdLst/>
              <a:ahLst/>
              <a:cxnLst/>
              <a:rect l="l" t="t" r="r" b="b"/>
              <a:pathLst>
                <a:path w="769366" h="769366">
                  <a:moveTo>
                    <a:pt x="0" y="51308"/>
                  </a:moveTo>
                  <a:cubicBezTo>
                    <a:pt x="0" y="22987"/>
                    <a:pt x="22987" y="0"/>
                    <a:pt x="51308" y="0"/>
                  </a:cubicBezTo>
                  <a:lnTo>
                    <a:pt x="718058" y="0"/>
                  </a:lnTo>
                  <a:cubicBezTo>
                    <a:pt x="746379" y="0"/>
                    <a:pt x="769366" y="22987"/>
                    <a:pt x="769366" y="51308"/>
                  </a:cubicBezTo>
                  <a:lnTo>
                    <a:pt x="769366" y="718058"/>
                  </a:lnTo>
                  <a:cubicBezTo>
                    <a:pt x="769366" y="746379"/>
                    <a:pt x="746379" y="769366"/>
                    <a:pt x="718058" y="769366"/>
                  </a:cubicBezTo>
                  <a:lnTo>
                    <a:pt x="51308" y="769366"/>
                  </a:lnTo>
                  <a:cubicBezTo>
                    <a:pt x="22987" y="769366"/>
                    <a:pt x="0" y="746379"/>
                    <a:pt x="0" y="718058"/>
                  </a:cubicBezTo>
                  <a:close/>
                </a:path>
              </a:pathLst>
            </a:custGeom>
            <a:solidFill>
              <a:srgbClr val="EAE8F3"/>
            </a:solidFill>
          </p:spPr>
        </p:sp>
      </p:grpSp>
      <p:grpSp>
        <p:nvGrpSpPr>
          <p:cNvPr id="38" name="Group 38"/>
          <p:cNvGrpSpPr/>
          <p:nvPr/>
        </p:nvGrpSpPr>
        <p:grpSpPr>
          <a:xfrm>
            <a:off x="9025459" y="7917656"/>
            <a:ext cx="236935" cy="384721"/>
            <a:chOff x="0" y="0"/>
            <a:chExt cx="315913" cy="512962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315913" cy="512962"/>
            </a:xfrm>
            <a:custGeom>
              <a:avLst/>
              <a:gdLst/>
              <a:ahLst/>
              <a:cxnLst/>
              <a:rect l="l" t="t" r="r" b="b"/>
              <a:pathLst>
                <a:path w="315913" h="512962">
                  <a:moveTo>
                    <a:pt x="0" y="0"/>
                  </a:moveTo>
                  <a:lnTo>
                    <a:pt x="315913" y="0"/>
                  </a:lnTo>
                  <a:lnTo>
                    <a:pt x="315913" y="512962"/>
                  </a:lnTo>
                  <a:lnTo>
                    <a:pt x="0" y="5129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0" name="TextBox 40"/>
            <p:cNvSpPr txBox="1"/>
            <p:nvPr/>
          </p:nvSpPr>
          <p:spPr>
            <a:xfrm>
              <a:off x="0" y="57150"/>
              <a:ext cx="315913" cy="45581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000"/>
                </a:lnSpc>
              </a:pPr>
              <a:r>
                <a:rPr lang="en-US" sz="3000">
                  <a:solidFill>
                    <a:srgbClr val="49495A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3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3834539" y="7789515"/>
            <a:ext cx="3899016" cy="841336"/>
            <a:chOff x="0" y="0"/>
            <a:chExt cx="4531717" cy="977861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4531717" cy="977861"/>
            </a:xfrm>
            <a:custGeom>
              <a:avLst/>
              <a:gdLst/>
              <a:ahLst/>
              <a:cxnLst/>
              <a:rect l="l" t="t" r="r" b="b"/>
              <a:pathLst>
                <a:path w="4531717" h="977861">
                  <a:moveTo>
                    <a:pt x="0" y="0"/>
                  </a:moveTo>
                  <a:lnTo>
                    <a:pt x="4531717" y="0"/>
                  </a:lnTo>
                  <a:lnTo>
                    <a:pt x="4531717" y="977861"/>
                  </a:lnTo>
                  <a:lnTo>
                    <a:pt x="0" y="97786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3" name="TextBox 43"/>
            <p:cNvSpPr txBox="1"/>
            <p:nvPr/>
          </p:nvSpPr>
          <p:spPr>
            <a:xfrm>
              <a:off x="0" y="-19050"/>
              <a:ext cx="4531717" cy="996911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r">
                <a:lnSpc>
                  <a:spcPts val="3124"/>
                </a:lnSpc>
              </a:pPr>
              <a:r>
                <a:rPr lang="en-US" sz="2499">
                  <a:solidFill>
                    <a:srgbClr val="49495A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Integration with Bank Accounts</a:t>
              </a:r>
            </a:p>
          </p:txBody>
        </p:sp>
      </p:grpSp>
      <p:sp>
        <p:nvSpPr>
          <p:cNvPr id="44" name="Freeform 44"/>
          <p:cNvSpPr/>
          <p:nvPr/>
        </p:nvSpPr>
        <p:spPr>
          <a:xfrm>
            <a:off x="15344946" y="276870"/>
            <a:ext cx="2693546" cy="683864"/>
          </a:xfrm>
          <a:custGeom>
            <a:avLst/>
            <a:gdLst/>
            <a:ahLst/>
            <a:cxnLst/>
            <a:rect l="l" t="t" r="r" b="b"/>
            <a:pathLst>
              <a:path w="2693546" h="683864">
                <a:moveTo>
                  <a:pt x="0" y="0"/>
                </a:moveTo>
                <a:lnTo>
                  <a:pt x="2693546" y="0"/>
                </a:lnTo>
                <a:lnTo>
                  <a:pt x="2693546" y="683864"/>
                </a:lnTo>
                <a:lnTo>
                  <a:pt x="0" y="6838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344946" y="276870"/>
            <a:ext cx="2693546" cy="683864"/>
          </a:xfrm>
          <a:custGeom>
            <a:avLst/>
            <a:gdLst/>
            <a:ahLst/>
            <a:cxnLst/>
            <a:rect l="l" t="t" r="r" b="b"/>
            <a:pathLst>
              <a:path w="2693546" h="683864">
                <a:moveTo>
                  <a:pt x="0" y="0"/>
                </a:moveTo>
                <a:lnTo>
                  <a:pt x="2693546" y="0"/>
                </a:lnTo>
                <a:lnTo>
                  <a:pt x="2693546" y="683864"/>
                </a:lnTo>
                <a:lnTo>
                  <a:pt x="0" y="6838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5115106" y="3874766"/>
            <a:ext cx="7373127" cy="2537468"/>
            <a:chOff x="0" y="0"/>
            <a:chExt cx="9830835" cy="3383290"/>
          </a:xfrm>
        </p:grpSpPr>
        <p:sp>
          <p:nvSpPr>
            <p:cNvPr id="4" name="TextBox 4"/>
            <p:cNvSpPr txBox="1"/>
            <p:nvPr/>
          </p:nvSpPr>
          <p:spPr>
            <a:xfrm>
              <a:off x="0" y="2760620"/>
              <a:ext cx="9830835" cy="6226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20"/>
                </a:lnSpc>
                <a:spcBef>
                  <a:spcPct val="0"/>
                </a:spcBef>
              </a:pPr>
              <a:r>
                <a:rPr lang="en-US" sz="2800">
                  <a:solidFill>
                    <a:srgbClr val="49495A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We appreciate your time and interest.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90500"/>
              <a:ext cx="9830835" cy="17314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499"/>
                </a:lnSpc>
              </a:pPr>
              <a:r>
                <a:rPr lang="en-US" sz="9499">
                  <a:solidFill>
                    <a:srgbClr val="403CCF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Thank You</a:t>
              </a:r>
            </a:p>
          </p:txBody>
        </p:sp>
      </p:grpSp>
      <p:sp>
        <p:nvSpPr>
          <p:cNvPr id="6" name="Freeform 6"/>
          <p:cNvSpPr/>
          <p:nvPr/>
        </p:nvSpPr>
        <p:spPr>
          <a:xfrm>
            <a:off x="1266626" y="3777249"/>
            <a:ext cx="1367991" cy="2732501"/>
          </a:xfrm>
          <a:custGeom>
            <a:avLst/>
            <a:gdLst/>
            <a:ahLst/>
            <a:cxnLst/>
            <a:rect l="l" t="t" r="r" b="b"/>
            <a:pathLst>
              <a:path w="1367991" h="2732501">
                <a:moveTo>
                  <a:pt x="0" y="0"/>
                </a:moveTo>
                <a:lnTo>
                  <a:pt x="1367991" y="0"/>
                </a:lnTo>
                <a:lnTo>
                  <a:pt x="1367991" y="2732502"/>
                </a:lnTo>
                <a:lnTo>
                  <a:pt x="0" y="27325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256</Words>
  <Application>Microsoft Office PowerPoint</Application>
  <PresentationFormat>Custom</PresentationFormat>
  <Paragraphs>84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Open Sans 2</vt:lpstr>
      <vt:lpstr>Arial</vt:lpstr>
      <vt:lpstr>Open Sans 1</vt:lpstr>
      <vt:lpstr>Calibri</vt:lpstr>
      <vt:lpstr>Libre Baskerville</vt:lpstr>
      <vt:lpstr>Canva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Expense-Tracker-Your-Financial-Management-Solution.pptx</dc:title>
  <cp:lastModifiedBy>priyam kapadiya</cp:lastModifiedBy>
  <cp:revision>3</cp:revision>
  <dcterms:created xsi:type="dcterms:W3CDTF">2006-08-16T00:00:00Z</dcterms:created>
  <dcterms:modified xsi:type="dcterms:W3CDTF">2025-02-28T03:41:34Z</dcterms:modified>
  <dc:identifier>DAGgNpq828o</dc:identifier>
</cp:coreProperties>
</file>